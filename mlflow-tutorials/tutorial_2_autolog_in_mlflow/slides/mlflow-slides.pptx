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01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868680"/>
            <a:ext cx="173736" cy="173736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97864" y="868680"/>
            <a:ext cx="173736" cy="173736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35608" y="868680"/>
            <a:ext cx="173736" cy="173736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73352" y="868680"/>
            <a:ext cx="173736" cy="173736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mpmppane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25880"/>
            <a:ext cx="2788920" cy="19878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32918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5F6368"/>
                </a:solidFill>
                <a:latin typeface="Aptos"/>
              </a:rPr>
              <a:t>Autologging &amp; zero-config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F6368"/>
                </a:solidFill>
                <a:latin typeface="Aptos"/>
              </a:rPr>
              <a:t>From "what is MLflow" to logging an entire training run with a single line of code.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02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594360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5669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F6368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What is MLflow?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F6368"/>
                </a:solidFill>
                <a:latin typeface="Aptos"/>
              </a:rPr>
              <a:t>An open-source platform for managing the machine learning lifecycle: experiments, models, and deployment, tracked in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331720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331720"/>
            <a:ext cx="50292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2560320"/>
            <a:ext cx="45034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4285F4"/>
                </a:solidFill>
                <a:latin typeface="Aptos"/>
              </a:rPr>
              <a:t>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816352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Log every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200400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Record parameters, metrics, and artifacts so results are reproducible and comparable.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331720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2331720"/>
            <a:ext cx="50292" cy="1234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6812" y="2560320"/>
            <a:ext cx="45034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EA4335"/>
                </a:solidFill>
                <a:latin typeface="Aptos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812" y="2816352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Package &amp; 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812" y="3200400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Save trained models in a standard format ready for reuse across tools.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858768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3858768"/>
            <a:ext cx="50292" cy="1234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2" y="4087368"/>
            <a:ext cx="45034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FBBC04"/>
                </a:solidFill>
                <a:latin typeface="Aptos"/>
              </a:rPr>
              <a:t>REGISTRY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343400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Manage lifecycle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727448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Promote models through staging and production with full lineage.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858768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858768"/>
            <a:ext cx="50292" cy="1234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6812" y="4087368"/>
            <a:ext cx="45034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34A853"/>
                </a:solidFill>
                <a:latin typeface="Aptos"/>
              </a:rPr>
              <a:t>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6812" y="4343400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Deploy anywhere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6812" y="4727448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Ship models to a REST endpoint, batch job, or cloud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03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594360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5669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F6368"/>
                </a:solidFill>
                <a:latin typeface="Aptos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The problem it solves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002536"/>
            <a:ext cx="64008" cy="4572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1965960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02124"/>
                </a:solidFill>
                <a:latin typeface="Aptos"/>
              </a:rPr>
              <a:t>Lost experiments. </a:t>
            </a:r>
            <a:r>
              <a:rPr sz="1600">
                <a:solidFill>
                  <a:srgbClr val="202124"/>
                </a:solidFill>
                <a:latin typeface="Aptos"/>
              </a:rPr>
              <a:t>Which hyperparameters gave that good score last Tuesday? MLflow remembers so you don't have 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660904"/>
            <a:ext cx="64008" cy="45720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624328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02124"/>
                </a:solidFill>
                <a:latin typeface="Aptos"/>
              </a:rPr>
              <a:t>Manual bookkeeping. </a:t>
            </a:r>
            <a:r>
              <a:rPr sz="1600">
                <a:solidFill>
                  <a:srgbClr val="202124"/>
                </a:solidFill>
                <a:latin typeface="Aptos"/>
              </a:rPr>
              <a:t>No more copy-pasting metrics into spreadsheets after every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319272"/>
            <a:ext cx="64008" cy="457200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282696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02124"/>
                </a:solidFill>
                <a:latin typeface="Aptos"/>
              </a:rPr>
              <a:t>Reproducibility gaps. </a:t>
            </a:r>
            <a:r>
              <a:rPr sz="1600">
                <a:solidFill>
                  <a:srgbClr val="202124"/>
                </a:solidFill>
                <a:latin typeface="Aptos"/>
              </a:rPr>
              <a:t>Every run captures its code version, parameters, and environment.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977640"/>
            <a:ext cx="64008" cy="45720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941064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02124"/>
                </a:solidFill>
                <a:latin typeface="Aptos"/>
              </a:rPr>
              <a:t>Framework sprawl. </a:t>
            </a:r>
            <a:r>
              <a:rPr sz="1600">
                <a:solidFill>
                  <a:srgbClr val="202124"/>
                </a:solidFill>
                <a:latin typeface="Aptos"/>
              </a:rPr>
              <a:t>One consistent interface across scikit-learn, PyTorch, XGBoost, and more.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04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594360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5669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F6368"/>
                </a:solidFill>
                <a:latin typeface="Aptos"/>
              </a:rPr>
              <a:t>AUTOLOGGING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Activating autologging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F6368"/>
                </a:solidFill>
                <a:latin typeface="Aptos"/>
              </a:rPr>
              <a:t>Autologging captures parameters, metrics, and models automatically, without adding logging calls to your training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423160"/>
            <a:ext cx="7772400" cy="23317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423160"/>
            <a:ext cx="64008" cy="2331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569464"/>
            <a:ext cx="73883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>import mlflow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># One call, before you train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>mlflow.autolog()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># Your normal training code, unchanged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>model.fit(X_train, y_train)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440680"/>
            <a:ext cx="8046720" cy="658368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5550408"/>
            <a:ext cx="7543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02124"/>
                </a:solidFill>
                <a:latin typeface="Aptos"/>
              </a:rPr>
              <a:t>✦ mlflow.autolog() enables logging for every supported library you've imported. Framework-specific variants exist too, like mlflow.sklearn.autolog() 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05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594360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5669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F6368"/>
                </a:solidFill>
                <a:latin typeface="Aptos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What autolog captures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331720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331720"/>
            <a:ext cx="50292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560320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944368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Model hyperparameters and fit arguments, pulled directly from the estimator.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2331720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0780" y="2331720"/>
            <a:ext cx="50292" cy="1234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6812" y="2560320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812" y="2944368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Training scores, loss curves, and evaluation results per epoch or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858768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3858768"/>
            <a:ext cx="50292" cy="1234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4087368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4471416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The serialized model, plus plots and summaries where the flavour supports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0780" y="3858768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780" y="3858768"/>
            <a:ext cx="50292" cy="1234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6812" y="4087368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812" y="4471416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Run timing, source code version, and the model signature for later serving.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06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594360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5669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F6368"/>
                </a:solidFill>
                <a:latin typeface="Aptos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Zero-config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F6368"/>
                </a:solidFill>
                <a:latin typeface="Aptos"/>
              </a:rPr>
              <a:t>Instrumentation without ceremony. You write ML code the way you always have; MLflow observes and records it for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185416"/>
            <a:ext cx="64008" cy="4572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148840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02124"/>
                </a:solidFill>
                <a:latin typeface="Aptos"/>
              </a:rPr>
              <a:t>No manual log calls. </a:t>
            </a:r>
            <a:r>
              <a:rPr sz="1600">
                <a:solidFill>
                  <a:srgbClr val="202124"/>
                </a:solidFill>
                <a:latin typeface="Aptos"/>
              </a:rPr>
              <a:t>Skip log_param and log_metric for every value. Autolog infers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843784"/>
            <a:ext cx="64008" cy="45720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807208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02124"/>
                </a:solidFill>
                <a:latin typeface="Aptos"/>
              </a:rPr>
              <a:t>No boilerplate runs. </a:t>
            </a:r>
            <a:r>
              <a:rPr sz="1600">
                <a:solidFill>
                  <a:srgbClr val="202124"/>
                </a:solidFill>
                <a:latin typeface="Aptos"/>
              </a:rPr>
              <a:t>A run starts and ends around your fit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502152"/>
            <a:ext cx="64008" cy="457200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465576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02124"/>
                </a:solidFill>
                <a:latin typeface="Aptos"/>
              </a:rPr>
              <a:t>Add detail only when you want it. </a:t>
            </a:r>
            <a:r>
              <a:rPr sz="1600">
                <a:solidFill>
                  <a:srgbClr val="202124"/>
                </a:solidFill>
                <a:latin typeface="Aptos"/>
              </a:rPr>
              <a:t>Drop into manual logging for custom metrics, and autolog fills in the rest.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07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594360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5669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F6368"/>
                </a:solidFill>
                <a:latin typeface="Aptos"/>
              </a:rPr>
              <a:t>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Manual vs zero-config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A4335"/>
                </a:solidFill>
                <a:latin typeface="Aptos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A853"/>
                </a:solidFill>
                <a:latin typeface="Aptos"/>
              </a:rPr>
              <a:t>After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12848"/>
            <a:ext cx="5074920" cy="34290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212848"/>
            <a:ext cx="64008" cy="3429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359152"/>
            <a:ext cx="46908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02124"/>
                </a:solidFill>
                <a:latin typeface="Courier New"/>
              </a:rPr>
              <a:t>with mlflow.start_run():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02124"/>
                </a:solidFill>
                <a:latin typeface="Courier New"/>
              </a:rPr>
              <a:t>    mlflow.log_param("n_est", 100)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02124"/>
                </a:solidFill>
                <a:latin typeface="Courier New"/>
              </a:rPr>
              <a:t>    mlflow.log_param("depth", 6)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02124"/>
                </a:solidFill>
                <a:latin typeface="Courier New"/>
              </a:rPr>
              <a:t>    model.fit(X, y)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02124"/>
                </a:solidFill>
                <a:latin typeface="Courier New"/>
              </a:rPr>
              <a:t>    acc = model.score(X, y)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02124"/>
                </a:solidFill>
                <a:latin typeface="Courier New"/>
              </a:rPr>
              <a:t>    mlflow.log_metric("acc", acc)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02124"/>
                </a:solidFill>
                <a:latin typeface="Courier New"/>
              </a:rPr>
              <a:t>    mlflow.sklearn.log_model(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02124"/>
                </a:solidFill>
                <a:latin typeface="Courier New"/>
              </a:rPr>
              <a:t>        model, "model")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212848"/>
            <a:ext cx="4297680" cy="18288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2212848"/>
            <a:ext cx="64008" cy="1828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359152"/>
            <a:ext cx="39136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>mlflow.autolog()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>model.fit(X, y)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># params, metrics, and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02124"/>
                </a:solidFill>
                <a:latin typeface="Courier New"/>
              </a:rPr>
              <a:t># the model: all logged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08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594360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5669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F6368"/>
                </a:solidFill>
                <a:latin typeface="Aptos"/>
              </a:rPr>
              <a:t>EXAMPLE 1 · SCIKIT-LEARN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True zero-config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F6368"/>
                </a:solidFill>
                <a:latin typeface="Aptos"/>
              </a:rPr>
              <a:t>scikit-learn works with generic autolog out of the box. One call, then train as normal.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423160"/>
            <a:ext cx="7772400" cy="352044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423160"/>
            <a:ext cx="64008" cy="3520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569464"/>
            <a:ext cx="73883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import mlflow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from sklearn.ensemble import RandomForestClassifier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from sklearn.datasets import load_iris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from sklearn.model_selection import train_test_split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mlflow.autolog()   # &lt;- the only MLflow line you add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X, y = load_iris(return_X_y=True)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X_tr, X_te, y_tr, y_te = train_test_split(X, y, test_size=0.2)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clf = RandomForestClassifier(n_estimators=100, max_depth=6)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clf.fit(X_tr, y_tr)   # params, metrics, model, signature: all logged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09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594360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5669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F6368"/>
                </a:solidFill>
                <a:latin typeface="Aptos"/>
              </a:rPr>
              <a:t>EXAMPLE 2 · PYTORCH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Autolog via Lightning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F6368"/>
                </a:solidFill>
                <a:latin typeface="Aptos"/>
              </a:rPr>
              <a:t>Vanilla PyTorch uses a custom training loop, so MLflow can't autolog it directly. PyTorch Lightning gives autolog the structure it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423160"/>
            <a:ext cx="7772400" cy="306324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423160"/>
            <a:ext cx="64008" cy="3063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569464"/>
            <a:ext cx="738835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import mlflow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import lightning as L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mlflow.autolog()   # detects Lightning; logs metrics, params, checkpoints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class LitModel(L.LightningModule):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    def training_step(self, batch, idx):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        x, y = batch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        loss = self.loss_fn(self(x), y)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        self.log("train_loss", loss)   # surfaced by autolog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        return loss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trainer = L.Trainer(max_epochs=5)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02124"/>
                </a:solidFill>
                <a:latin typeface="Courier New"/>
              </a:rPr>
              <a:t>trainer.fit(model, train_loader)   # run tracked automatically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440680"/>
            <a:ext cx="8046720" cy="658368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5550408"/>
            <a:ext cx="7543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02124"/>
                </a:solidFill>
                <a:latin typeface="Aptos"/>
              </a:rPr>
              <a:t>⚠ For a raw PyTorch loop, use manual mlflow.log_metric() calls. Autolog is a Lightning feature.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10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594360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5669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F6368"/>
                </a:solidFill>
                <a:latin typeface="Aptos"/>
              </a:rPr>
              <a:t>TRY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Demos &amp;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331720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331720"/>
            <a:ext cx="50292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560320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Autolog quickstart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944368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Official walkthrough of mlflow.autolog() across supported libraries.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2331720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0780" y="2331720"/>
            <a:ext cx="50292" cy="1234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6812" y="2560320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Autolog primer (blog)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812" y="2944368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The team's own intro to what autolog captures and why.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858768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3858768"/>
            <a:ext cx="50292" cy="1234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4087368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PyTorch deep-learning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4471416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Lightning autolog, resource tracking, and reproducibility.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0780" y="3858768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780" y="3858768"/>
            <a:ext cx="50292" cy="1234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6812" y="4087368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Runnable examples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812" y="4471416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End-to-end sklearn and PyTorch train-and-score scripts on GitHub.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11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594360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5669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F6368"/>
                </a:solidFill>
                <a:latin typeface="Aptos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331720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331720"/>
            <a:ext cx="50292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560320"/>
            <a:ext cx="45034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4285F4"/>
                </a:solidFill>
                <a:latin typeface="Aptos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816352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MLflow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200400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Open-source platform for the ML lifecycle: tracking, models, registry, and serving.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2331720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780" y="2331720"/>
            <a:ext cx="50292" cy="1234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6812" y="2560320"/>
            <a:ext cx="45034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EA4335"/>
                </a:solidFill>
                <a:latin typeface="Aptos"/>
              </a:rPr>
              <a:t>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812" y="2816352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Autolog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812" y="3200400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One call, mlflow.autolog() , captures parameters, metrics, artifacts, and metadata.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858768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858768"/>
            <a:ext cx="50292" cy="1234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4087368"/>
            <a:ext cx="45034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FBBC04"/>
                </a:solidFill>
                <a:latin typeface="Aptos"/>
              </a:rPr>
              <a:t>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343400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Zero-config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727448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Instrument runs without editing training code. Add manual logging only when you want more.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3858768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0780" y="3858768"/>
            <a:ext cx="50292" cy="1234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6812" y="4087368"/>
            <a:ext cx="45034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34A853"/>
                </a:solidFill>
                <a:latin typeface="Aptos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6812" y="4343400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Frameworks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6812" y="4727448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scikit-learn works out of the box. PyTorch autologs through Lightning.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12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594360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5669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F6368"/>
                </a:solidFill>
                <a:latin typeface="Aptos"/>
              </a:rPr>
              <a:t>ONE PLATFORM, TWO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24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MLflow for ML vs GenAI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F6368"/>
                </a:solidFill>
                <a:latin typeface="Aptos"/>
              </a:rPr>
              <a:t>Everything so far is the classic ML path. MLflow 3 added a parallel track for LLMs and agents, where the unit of work is a prompt or a trace, not a fit()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788920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788920"/>
            <a:ext cx="50292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3017520"/>
            <a:ext cx="45034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4285F4"/>
                </a:solidFill>
                <a:latin typeface="Aptos"/>
              </a:rPr>
              <a:t>TRADITIONAL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273552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Train &amp;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657600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Unit: a training run. Log: mlflow.autolog() captures params, metrics, model. Evaluate: mlflow.models.evaluate() for classification and regression. Compare: runs side by side in the 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788920"/>
            <a:ext cx="49606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2788920"/>
            <a:ext cx="50292" cy="1234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6812" y="3017520"/>
            <a:ext cx="45034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EA4335"/>
                </a:solidFill>
                <a:latin typeface="Aptos"/>
              </a:rPr>
              <a:t>GENAI &amp;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812" y="3273552"/>
            <a:ext cx="4503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4"/>
                </a:solidFill>
                <a:latin typeface="Aptos"/>
              </a:rPr>
              <a:t>Trace &amp; judge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812" y="3657600"/>
            <a:ext cx="45034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  <a:latin typeface="Aptos"/>
              </a:rPr>
              <a:t>Unit: a prompt or a trace. Log: auto-tracing captures prompts, tool calls, tokens, cost. Evaluate: mlflow.genai.evaluate() with LLM-as-judge scorers. Manage: versioned Prompt Registry.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623560"/>
            <a:ext cx="9052560" cy="658368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5733288"/>
            <a:ext cx="8549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02124"/>
                </a:solidFill>
                <a:latin typeface="Aptos"/>
              </a:rPr>
              <a:t>✦ Same registry, same UI, same lineage. If you run both training pipelines and LLM apps, they live in one place.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Aptos"/>
              </a:rPr>
              <a:t>13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868680"/>
            <a:ext cx="173736" cy="173736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97864" y="868680"/>
            <a:ext cx="173736" cy="173736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35608" y="868680"/>
            <a:ext cx="173736" cy="173736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73352" y="868680"/>
            <a:ext cx="173736" cy="173736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124"/>
                </a:solidFill>
                <a:latin typeface="Aptos"/>
              </a:rPr>
              <a:t>One line in.
A full experiment history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F6368"/>
                </a:solidFill>
                <a:latin typeface="Aptos"/>
              </a:rPr>
              <a:t>Start with mlflow.autolog() , run your training, and open the MLflow UI to compare every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251960"/>
            <a:ext cx="5486400" cy="6858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4251960"/>
            <a:ext cx="64008" cy="6858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4398264"/>
            <a:ext cx="5102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202124"/>
                </a:solidFill>
                <a:latin typeface="Courier New"/>
              </a:rPr>
              <a:t>mlflow ui  # then visit localhost:5000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